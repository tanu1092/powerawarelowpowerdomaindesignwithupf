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PowerAware</a:t>
            </a:r>
          </a:p>
          <a:p>
            <a:r>
              <a:rPr sz="3200">
                <a:solidFill>
                  <a:srgbClr val="CDE1F5"/>
                </a:solidFill>
              </a:rPr>
              <a:t>Low-Power Domain Design with UPF</a:t>
            </a:r>
          </a:p>
          <a:p>
            <a:r>
              <a:rPr sz="2200">
                <a:solidFill>
                  <a:srgbClr val="AAC3DC"/>
                </a:solidFill>
              </a:rPr>
              <a:t>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10698480" cy="1325880"/>
          </a:xfrm>
          <a:prstGeom prst="roundRect">
            <a:avLst/>
          </a:prstGeom>
          <a:solidFill>
            <a:srgbClr val="1F355B"/>
          </a:solidFill>
          <a:ln>
            <a:solidFill>
              <a:srgbClr val="41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99584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FFFFF"/>
                </a:solidFill>
              </a:rPr>
              <a:t>Goal: Design a low-power digital subsystem, implement power intent using UPF, and validate shutdown, 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wake-up, isolation and retention behavior through simulation and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2801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DCEB"/>
                </a:solidFill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Design a low-power digital subsystem using modern power-intent methodology.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Partition the design into power domains and define always-on, switchable and retention regions.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Describe power intent with Unified Power Format (UPF).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Validate power-state transitions, isolation and retention through simulation and low-power checks.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Summarize power/performance trade-offs and final project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2. Key Objectives &amp;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25780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2A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441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5DAA"/>
                </a:solidFill>
              </a:rPr>
              <a:t>Power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303A"/>
                </a:solidFill>
              </a:rPr>
              <a:t>Always-on, switchable and retention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25780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2E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34416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A0AA"/>
                </a:solidFill>
              </a:rPr>
              <a:t>UPF Authoring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92807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303A"/>
                </a:solidFill>
              </a:rPr>
              <a:t>Power switches, isolation and retention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525780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3A8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A8F5E"/>
                </a:solidFill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33088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303A"/>
                </a:solidFill>
              </a:rPr>
              <a:t>Low-power rule checks and simulation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525780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16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58444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2746"/>
                </a:solidFill>
              </a:rP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33088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8303A"/>
                </a:solidFill>
              </a:rPr>
              <a:t>Compare baseline and low-power estimates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3. Phase 1 – Power Architecture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Partition the design into logical power domains.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Define an always-on domain for control and power-management logic.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Define a switchable domain for logic that can be powered down to reduce leakage.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Identify retention requirements for state that must survive a power-down event.</a:t>
            </a:r>
          </a:p>
          <a:p>
            <a:pPr>
              <a:spcAft>
                <a:spcPts val="1000"/>
              </a:spcAft>
              <a:defRPr sz="2000" b="0">
                <a:solidFill>
                  <a:srgbClr val="28303A"/>
                </a:solidFill>
              </a:defRPr>
            </a:pPr>
            <a:r>
              <a:t>Plan the power states and transition rules before UPF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83480"/>
            <a:ext cx="2560320" cy="777240"/>
          </a:xfrm>
          <a:prstGeom prst="round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1937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Always-On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983480"/>
            <a:ext cx="2560320" cy="777240"/>
          </a:xfrm>
          <a:prstGeom prst="roundRect">
            <a:avLst/>
          </a:prstGeom>
          <a:solidFill>
            <a:srgbClr val="2E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51937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Switchable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83480"/>
            <a:ext cx="2560320" cy="777240"/>
          </a:xfrm>
          <a:prstGeom prst="roundRect">
            <a:avLst/>
          </a:prstGeom>
          <a:solidFill>
            <a:srgbClr val="3A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51937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4. Phase 2 – UPF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Create the UPF power domains and associate RTL instances with each domain.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Add power switches to control the switchable domain.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Add isolation cells to protect always-on logic when the switchable domain is OFF.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Define retention strategies for state-holding elements.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Connect power states and transition rules to describe legal operating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074920"/>
            <a:ext cx="1920240" cy="685800"/>
          </a:xfrm>
          <a:prstGeom prst="round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074920"/>
            <a:ext cx="1920240" cy="685800"/>
          </a:xfrm>
          <a:prstGeom prst="roundRect">
            <a:avLst/>
          </a:prstGeom>
          <a:solidFill>
            <a:srgbClr val="2E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5276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Power Switch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5074920"/>
            <a:ext cx="1920240" cy="685800"/>
          </a:xfrm>
          <a:prstGeom prst="roundRect">
            <a:avLst/>
          </a:prstGeom>
          <a:solidFill>
            <a:srgbClr val="3A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5276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5074920"/>
            <a:ext cx="1920240" cy="685800"/>
          </a:xfrm>
          <a:prstGeom prst="round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5276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5074920"/>
            <a:ext cx="1920240" cy="685800"/>
          </a:xfrm>
          <a:prstGeom prst="round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0" y="5276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Power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5. Phase 3 – Verification &amp;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Run low-power rule checks to validate the UPF intent and domain connectivity.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Run simulation scenarios covering normal operation, shutdown and wake-up.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Verify isolation behavior when the switchable domain is powered down.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Verify retention behavior across power-down and wake-up.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Use waveform results to confirm correct power-state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544068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8303A"/>
                </a:solidFill>
              </a:rPr>
              <a:t>Simulation artifacts: VCD files + waveform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29BD53-E59D-3D8F-378F-9B077B6A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21" y="3341762"/>
            <a:ext cx="5584420" cy="33150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A97638-E1EA-2396-465A-294655D2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341762"/>
            <a:ext cx="5875755" cy="3315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6. Final Output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A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A5DAA"/>
                </a:solidFill>
              </a:rPr>
              <a:t>Functional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115568"/>
            <a:ext cx="8001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03A"/>
                </a:solidFill>
              </a:rPr>
              <a:t>RTL + UPF simulation produces the expected functional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58568"/>
            <a:ext cx="106984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2E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14015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A0AA"/>
                </a:solidFill>
              </a:rPr>
              <a:t>Low-power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14015"/>
            <a:ext cx="8001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03A"/>
                </a:solidFill>
              </a:rPr>
              <a:t>Power-down and wake-up sequences are represented in the simulation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57015"/>
            <a:ext cx="106984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3A8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712463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A8F5E"/>
                </a:solidFill>
              </a:rPr>
              <a:t>Verification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712463"/>
            <a:ext cx="8001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03A"/>
                </a:solidFill>
              </a:rPr>
              <a:t>Waveform evidence and low-power checks support the intended power-state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55464"/>
            <a:ext cx="106984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16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0109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2746"/>
                </a:solidFill>
              </a:rPr>
              <a:t>Final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010912"/>
            <a:ext cx="8001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8303A"/>
                </a:solidFill>
              </a:rPr>
              <a:t>Source code, simulation/VCD files, final outputs and documentation are organized in the project folder.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7. Phase 4 – Power Optimization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Compare the baseline design with the low-power implementation.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Evaluate the effect of power switches, isolation and retention cells.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Report area and timing impact introduced by low-power cells.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Summarize the power/performance trade-off and identify the benefit of power-domain shutdown.</a:t>
            </a:r>
          </a:p>
          <a:p>
            <a:pPr>
              <a:spcAft>
                <a:spcPts val="1000"/>
              </a:spcAft>
              <a:defRPr sz="1900" b="0">
                <a:solidFill>
                  <a:srgbClr val="28303A"/>
                </a:solidFill>
              </a:defRPr>
            </a:pPr>
            <a:r>
              <a:t>Use measured/simulated results from the project rather than assuming ideal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83480"/>
            <a:ext cx="2834640" cy="731520"/>
          </a:xfrm>
          <a:prstGeom prst="roundRect">
            <a:avLst/>
          </a:prstGeom>
          <a:solidFill>
            <a:srgbClr val="3A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14807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Power 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983480"/>
            <a:ext cx="2834640" cy="731520"/>
          </a:xfrm>
          <a:prstGeom prst="round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514807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Area  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983480"/>
            <a:ext cx="2834640" cy="731520"/>
          </a:xfrm>
          <a:prstGeom prst="roundRect">
            <a:avLst/>
          </a:prstGeom>
          <a:solidFill>
            <a:srgbClr val="2E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514807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Timing  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8.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8303A"/>
                </a:solidFill>
              </a:defRPr>
            </a:pPr>
            <a:r>
              <a:t>1. UPF files and power-domain documentation.</a:t>
            </a:r>
          </a:p>
          <a:p>
            <a:pPr>
              <a:spcAft>
                <a:spcPts val="1000"/>
              </a:spcAft>
              <a:defRPr sz="2100" b="0">
                <a:solidFill>
                  <a:srgbClr val="28303A"/>
                </a:solidFill>
              </a:defRPr>
            </a:pPr>
            <a:r>
              <a:t>2. Low-power verification logs and simulation evidence.</a:t>
            </a:r>
          </a:p>
          <a:p>
            <a:pPr>
              <a:spcAft>
                <a:spcPts val="1000"/>
              </a:spcAft>
              <a:defRPr sz="2100" b="0">
                <a:solidFill>
                  <a:srgbClr val="28303A"/>
                </a:solidFill>
              </a:defRPr>
            </a:pPr>
            <a:r>
              <a:t>3. Power/performance trade-off report.</a:t>
            </a:r>
          </a:p>
          <a:p>
            <a:pPr>
              <a:spcAft>
                <a:spcPts val="1000"/>
              </a:spcAft>
              <a:defRPr sz="2100" b="0">
                <a:solidFill>
                  <a:srgbClr val="28303A"/>
                </a:solidFill>
              </a:defRPr>
            </a:pPr>
            <a:r>
              <a:t>4. RTL/source code and supporting project files.</a:t>
            </a:r>
          </a:p>
          <a:p>
            <a:pPr>
              <a:spcAft>
                <a:spcPts val="1000"/>
              </a:spcAft>
              <a:defRPr sz="2100" b="0">
                <a:solidFill>
                  <a:srgbClr val="28303A"/>
                </a:solidFill>
              </a:defRPr>
            </a:pPr>
            <a:r>
              <a:t>5. Final presentation and project handoff package.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234440"/>
            <a:ext cx="4114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2746"/>
                </a:solidFill>
              </a:rPr>
              <a:t>Project organization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Documentation/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source_code/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Simulation/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Final/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Github/</a:t>
            </a:r>
          </a:p>
          <a:p>
            <a:pPr>
              <a:spcAft>
                <a:spcPts val="600"/>
              </a:spcAft>
              <a:defRPr sz="1700">
                <a:solidFill>
                  <a:srgbClr val="28303A"/>
                </a:solidFill>
              </a:defRPr>
            </a:pPr>
            <a:r>
              <a:t>• presentation/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9. Project Timeline &amp; Deadlines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3317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2A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8483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A5DAA"/>
                </a:solidFill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9389" y="2743200"/>
            <a:ext cx="18982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>
                <a:solidFill>
                  <a:srgbClr val="28303A"/>
                </a:solidFill>
              </a:rPr>
              <a:t>Domain partition and </a:t>
            </a:r>
            <a:endParaRPr lang="en-US" sz="1500" dirty="0">
              <a:solidFill>
                <a:srgbClr val="28303A"/>
              </a:solidFill>
            </a:endParaRPr>
          </a:p>
          <a:p>
            <a:pPr algn="ctr"/>
            <a:r>
              <a:rPr sz="1500" dirty="0">
                <a:solidFill>
                  <a:srgbClr val="28303A"/>
                </a:solidFill>
              </a:rPr>
              <a:t>power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3317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2E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208483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EA0AA"/>
                </a:solidFill>
              </a:rP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743200"/>
            <a:ext cx="1920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8303A"/>
                </a:solidFill>
              </a:rPr>
              <a:t>UPF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23317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3A8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1" y="208483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A8F5E"/>
                </a:solidFill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7" y="2743200"/>
            <a:ext cx="1920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8303A"/>
                </a:solidFill>
              </a:rPr>
              <a:t>Low-power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828800"/>
            <a:ext cx="23317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16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08591" y="208483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162746"/>
                </a:solidFill>
              </a:rP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7" y="2743200"/>
            <a:ext cx="1920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8303A"/>
                </a:solidFill>
              </a:rPr>
              <a:t>Analysis and final handoff.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62746"/>
                </a:solidFill>
              </a:rPr>
              <a:t>Final handoff should include the design files, verification evidence, analysis and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10.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2801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DCEB"/>
                </a:solidFill>
              </a:rPr>
              <a:t>Final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54" y="1094526"/>
            <a:ext cx="10332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FFFFFF"/>
                </a:solidFill>
              </a:rPr>
              <a:t>PowerAware</a:t>
            </a:r>
            <a:r>
              <a:rPr sz="3000" b="1" dirty="0">
                <a:solidFill>
                  <a:srgbClr val="FFFFFF"/>
                </a:solidFill>
              </a:rPr>
              <a:t> demonstrates a practical low-power design flow using UPF.</a:t>
            </a:r>
          </a:p>
          <a:p>
            <a:pPr>
              <a:spcBef>
                <a:spcPts val="1200"/>
              </a:spcBef>
              <a:defRPr sz="1900">
                <a:solidFill>
                  <a:srgbClr val="DCE6F2"/>
                </a:solidFill>
              </a:defRPr>
            </a:pPr>
            <a:r>
              <a:rPr dirty="0"/>
              <a:t>• Power domains define when logic is powered and controlled.</a:t>
            </a:r>
          </a:p>
          <a:p>
            <a:pPr>
              <a:spcBef>
                <a:spcPts val="1200"/>
              </a:spcBef>
              <a:defRPr sz="1900">
                <a:solidFill>
                  <a:srgbClr val="DCE6F2"/>
                </a:solidFill>
              </a:defRPr>
            </a:pPr>
            <a:r>
              <a:rPr dirty="0"/>
              <a:t>• Isolation and retention preserve correct behavior across power-state changes.</a:t>
            </a:r>
          </a:p>
          <a:p>
            <a:pPr>
              <a:spcBef>
                <a:spcPts val="1200"/>
              </a:spcBef>
              <a:defRPr sz="1900">
                <a:solidFill>
                  <a:srgbClr val="DCE6F2"/>
                </a:solidFill>
              </a:defRPr>
            </a:pPr>
            <a:r>
              <a:rPr dirty="0"/>
              <a:t>• Simulation and low-power checks provide verification evidence.</a:t>
            </a:r>
          </a:p>
          <a:p>
            <a:pPr>
              <a:spcBef>
                <a:spcPts val="1200"/>
              </a:spcBef>
              <a:defRPr sz="1900">
                <a:solidFill>
                  <a:srgbClr val="DCE6F2"/>
                </a:solidFill>
              </a:defRPr>
            </a:pPr>
            <a:r>
              <a:rPr dirty="0"/>
              <a:t>• The final analysis captures power benefits together with area/timing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PowerAware – Low-Power Domain Design with UPF   |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755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2026-08-26T07:02:28Z</dcterms:modified>
  <cp:category/>
</cp:coreProperties>
</file>